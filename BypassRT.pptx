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5" r:id="rId5"/>
    <p:sldId id="257" r:id="rId6"/>
    <p:sldId id="259" r:id="rId7"/>
    <p:sldId id="341" r:id="rId8"/>
    <p:sldId id="261" r:id="rId9"/>
    <p:sldId id="264" r:id="rId10"/>
    <p:sldId id="268" r:id="rId11"/>
    <p:sldId id="343" r:id="rId12"/>
    <p:sldId id="263" r:id="rId13"/>
    <p:sldId id="265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240" autoAdjust="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>
        <p:guide pos="816"/>
        <p:guide orient="horz" pos="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281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A966AA-C2D0-420D-89FC-1A1AB0AD4072}" type="doc">
      <dgm:prSet loTypeId="urn:microsoft.com/office/officeart/2005/8/layout/hProcess1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5D50368-372D-4F79-95B9-B27BD239F0F6}">
      <dgm:prSet phldrT="[Text]" custT="1"/>
      <dgm:spPr/>
      <dgm:t>
        <a:bodyPr/>
        <a:lstStyle/>
        <a:p>
          <a:pPr marL="0" algn="ctr">
            <a:buNone/>
          </a:pPr>
          <a:r>
            <a:rPr lang="en-US" sz="1800" b="1" dirty="0"/>
            <a:t>Research</a:t>
          </a:r>
        </a:p>
        <a:p>
          <a:pPr marL="0" algn="ctr">
            <a:buNone/>
          </a:pPr>
          <a:r>
            <a:rPr lang="en-US" sz="1800" b="0" dirty="0"/>
            <a:t>Detailed analysis of traditional architecture</a:t>
          </a:r>
        </a:p>
      </dgm:t>
    </dgm:pt>
    <dgm:pt modelId="{CDE1A78B-2AE4-4A71-9139-416C219BC84D}" type="parTrans" cxnId="{68788A78-9180-41FF-BD09-BF4DBB52EA0D}">
      <dgm:prSet/>
      <dgm:spPr/>
      <dgm:t>
        <a:bodyPr/>
        <a:lstStyle/>
        <a:p>
          <a:endParaRPr lang="en-US"/>
        </a:p>
      </dgm:t>
    </dgm:pt>
    <dgm:pt modelId="{508ABF25-4B40-405C-9E88-248ED8B31B83}" type="sibTrans" cxnId="{68788A78-9180-41FF-BD09-BF4DBB52EA0D}">
      <dgm:prSet/>
      <dgm:spPr/>
      <dgm:t>
        <a:bodyPr/>
        <a:lstStyle/>
        <a:p>
          <a:endParaRPr lang="en-US"/>
        </a:p>
      </dgm:t>
    </dgm:pt>
    <dgm:pt modelId="{196543C5-093B-4437-B406-DBE4B882EA97}">
      <dgm:prSet phldrT="[Text]" custT="1"/>
      <dgm:spPr/>
      <dgm:t>
        <a:bodyPr/>
        <a:lstStyle/>
        <a:p>
          <a:pPr marL="0" algn="ctr">
            <a:buNone/>
          </a:pPr>
          <a:r>
            <a:rPr lang="en-US" sz="1800" b="1" dirty="0"/>
            <a:t>Recognition</a:t>
          </a:r>
        </a:p>
        <a:p>
          <a:pPr marL="0" algn="ctr">
            <a:buNone/>
          </a:pPr>
          <a:r>
            <a:rPr lang="en-US" sz="1800" b="0" dirty="0"/>
            <a:t>Recognizing drawbacks of the traditional networking stack</a:t>
          </a:r>
        </a:p>
        <a:p>
          <a:pPr marL="0" algn="ctr">
            <a:buNone/>
          </a:pPr>
          <a:endParaRPr lang="en-US" sz="1800" b="1" dirty="0"/>
        </a:p>
        <a:p>
          <a:pPr marL="0" algn="ctr">
            <a:buNone/>
          </a:pPr>
          <a:br>
            <a:rPr lang="en-US" sz="1800" b="1" dirty="0"/>
          </a:br>
          <a:endParaRPr lang="en-US" sz="1800" b="1" dirty="0"/>
        </a:p>
        <a:p>
          <a:pPr marL="0" algn="ctr">
            <a:buNone/>
          </a:pPr>
          <a:endParaRPr lang="en-US" sz="1800" b="1" dirty="0"/>
        </a:p>
      </dgm:t>
    </dgm:pt>
    <dgm:pt modelId="{41DE1F19-4A9F-48CD-A44E-6BF1D04E31EE}" type="parTrans" cxnId="{52499B9F-797A-43CC-89E1-64C52021BFAF}">
      <dgm:prSet/>
      <dgm:spPr/>
      <dgm:t>
        <a:bodyPr/>
        <a:lstStyle/>
        <a:p>
          <a:endParaRPr lang="en-US"/>
        </a:p>
      </dgm:t>
    </dgm:pt>
    <dgm:pt modelId="{F264F018-7FB9-43EC-B595-B986D351AD7B}" type="sibTrans" cxnId="{52499B9F-797A-43CC-89E1-64C52021BFAF}">
      <dgm:prSet/>
      <dgm:spPr/>
      <dgm:t>
        <a:bodyPr/>
        <a:lstStyle/>
        <a:p>
          <a:endParaRPr lang="en-US"/>
        </a:p>
      </dgm:t>
    </dgm:pt>
    <dgm:pt modelId="{CA2BABAF-EDAA-4496-8316-FD6EA3643E8F}">
      <dgm:prSet phldrT="[Text]" custT="1"/>
      <dgm:spPr/>
      <dgm:t>
        <a:bodyPr/>
        <a:lstStyle/>
        <a:p>
          <a:pPr marL="0" algn="ctr">
            <a:buNone/>
          </a:pPr>
          <a:r>
            <a:rPr lang="en-US" sz="1800" b="1" dirty="0">
              <a:solidFill>
                <a:schemeClr val="bg1">
                  <a:lumMod val="65000"/>
                </a:schemeClr>
              </a:solidFill>
            </a:rPr>
            <a:t>Execution</a:t>
          </a:r>
        </a:p>
      </dgm:t>
    </dgm:pt>
    <dgm:pt modelId="{2B1B4805-2FB7-402F-86A8-587F29181C18}" type="parTrans" cxnId="{4011B082-09BD-4DD1-A54F-EA5AB249A3C2}">
      <dgm:prSet/>
      <dgm:spPr/>
      <dgm:t>
        <a:bodyPr/>
        <a:lstStyle/>
        <a:p>
          <a:endParaRPr lang="en-US"/>
        </a:p>
      </dgm:t>
    </dgm:pt>
    <dgm:pt modelId="{4498AB02-A1BF-4D28-8918-F87A89CEE23B}" type="sibTrans" cxnId="{4011B082-09BD-4DD1-A54F-EA5AB249A3C2}">
      <dgm:prSet/>
      <dgm:spPr/>
      <dgm:t>
        <a:bodyPr/>
        <a:lstStyle/>
        <a:p>
          <a:endParaRPr lang="en-US"/>
        </a:p>
      </dgm:t>
    </dgm:pt>
    <dgm:pt modelId="{ABC1EDDD-C08B-4F9C-8453-9CEFCC2AF319}">
      <dgm:prSet phldrT="[Text]" custT="1"/>
      <dgm:spPr/>
      <dgm:t>
        <a:bodyPr/>
        <a:lstStyle/>
        <a:p>
          <a:pPr marL="228600" indent="-228600" algn="ctr">
            <a:buSzPct val="80000"/>
            <a:buFont typeface="Courier New" panose="02070309020205020404" pitchFamily="49" charset="0"/>
            <a:buNone/>
          </a:pPr>
          <a:r>
            <a:rPr lang="en-US" sz="1800" dirty="0">
              <a:solidFill>
                <a:schemeClr val="bg1">
                  <a:lumMod val="65000"/>
                </a:schemeClr>
              </a:solidFill>
            </a:rPr>
            <a:t>Building the actual prototype</a:t>
          </a:r>
        </a:p>
      </dgm:t>
    </dgm:pt>
    <dgm:pt modelId="{33D02404-349E-4E82-A8BA-C0A907006883}" type="parTrans" cxnId="{9C4BE375-6187-4BD4-A343-9FC71D796AF1}">
      <dgm:prSet/>
      <dgm:spPr/>
      <dgm:t>
        <a:bodyPr/>
        <a:lstStyle/>
        <a:p>
          <a:endParaRPr lang="en-US"/>
        </a:p>
      </dgm:t>
    </dgm:pt>
    <dgm:pt modelId="{7D85D88C-6545-49D9-9F9D-01270187B165}" type="sibTrans" cxnId="{9C4BE375-6187-4BD4-A343-9FC71D796AF1}">
      <dgm:prSet/>
      <dgm:spPr/>
      <dgm:t>
        <a:bodyPr/>
        <a:lstStyle/>
        <a:p>
          <a:endParaRPr lang="en-US"/>
        </a:p>
      </dgm:t>
    </dgm:pt>
    <dgm:pt modelId="{7F7D3F0A-88AE-44AB-92BC-B1AEC7CDD5CE}" type="pres">
      <dgm:prSet presAssocID="{B6A966AA-C2D0-420D-89FC-1A1AB0AD4072}" presName="Name0" presStyleCnt="0">
        <dgm:presLayoutVars>
          <dgm:dir/>
          <dgm:resizeHandles val="exact"/>
        </dgm:presLayoutVars>
      </dgm:prSet>
      <dgm:spPr/>
    </dgm:pt>
    <dgm:pt modelId="{1321859E-820F-42A1-A815-96F9E1091C18}" type="pres">
      <dgm:prSet presAssocID="{B6A966AA-C2D0-420D-89FC-1A1AB0AD4072}" presName="arrow" presStyleLbl="bgShp" presStyleIdx="0" presStyleCnt="1"/>
      <dgm:spPr/>
    </dgm:pt>
    <dgm:pt modelId="{0C0EFEA6-53DB-4B11-B914-678B897CA613}" type="pres">
      <dgm:prSet presAssocID="{B6A966AA-C2D0-420D-89FC-1A1AB0AD4072}" presName="points" presStyleCnt="0"/>
      <dgm:spPr/>
    </dgm:pt>
    <dgm:pt modelId="{D1F8120B-2014-4539-8DB2-DF72EA65305F}" type="pres">
      <dgm:prSet presAssocID="{45D50368-372D-4F79-95B9-B27BD239F0F6}" presName="compositeA" presStyleCnt="0"/>
      <dgm:spPr/>
    </dgm:pt>
    <dgm:pt modelId="{7103C4FE-7A4B-41EF-8814-669D0064B6EF}" type="pres">
      <dgm:prSet presAssocID="{45D50368-372D-4F79-95B9-B27BD239F0F6}" presName="textA" presStyleLbl="revTx" presStyleIdx="0" presStyleCnt="3" custScaleX="76000">
        <dgm:presLayoutVars>
          <dgm:bulletEnabled val="1"/>
        </dgm:presLayoutVars>
      </dgm:prSet>
      <dgm:spPr/>
    </dgm:pt>
    <dgm:pt modelId="{69242FCE-B1A3-4CB0-90C2-CB5EC309668C}" type="pres">
      <dgm:prSet presAssocID="{45D50368-372D-4F79-95B9-B27BD239F0F6}" presName="circleA" presStyleLbl="node1" presStyleIdx="0" presStyleCnt="3"/>
      <dgm:spPr/>
    </dgm:pt>
    <dgm:pt modelId="{301F205F-64EC-4B0E-A2AD-D5977C935AF4}" type="pres">
      <dgm:prSet presAssocID="{45D50368-372D-4F79-95B9-B27BD239F0F6}" presName="spaceA" presStyleCnt="0"/>
      <dgm:spPr/>
    </dgm:pt>
    <dgm:pt modelId="{B3AB7B4B-B32A-45B9-A77C-F2AACFD79CA5}" type="pres">
      <dgm:prSet presAssocID="{508ABF25-4B40-405C-9E88-248ED8B31B83}" presName="space" presStyleCnt="0"/>
      <dgm:spPr/>
    </dgm:pt>
    <dgm:pt modelId="{9B80AA7C-AE0D-4517-8F0E-3798D9078ECA}" type="pres">
      <dgm:prSet presAssocID="{196543C5-093B-4437-B406-DBE4B882EA97}" presName="compositeB" presStyleCnt="0"/>
      <dgm:spPr/>
    </dgm:pt>
    <dgm:pt modelId="{C72ECC98-97C1-4FA6-9751-2F88545F8213}" type="pres">
      <dgm:prSet presAssocID="{196543C5-093B-4437-B406-DBE4B882EA97}" presName="textB" presStyleLbl="revTx" presStyleIdx="1" presStyleCnt="3">
        <dgm:presLayoutVars>
          <dgm:bulletEnabled val="1"/>
        </dgm:presLayoutVars>
      </dgm:prSet>
      <dgm:spPr/>
    </dgm:pt>
    <dgm:pt modelId="{8A3CF5DF-2912-4784-8B16-20EF1087B16D}" type="pres">
      <dgm:prSet presAssocID="{196543C5-093B-4437-B406-DBE4B882EA97}" presName="circleB" presStyleLbl="node1" presStyleIdx="1" presStyleCnt="3"/>
      <dgm:spPr/>
    </dgm:pt>
    <dgm:pt modelId="{AEB44FDA-4D40-47A5-BEE0-4EF9F97BF5D2}" type="pres">
      <dgm:prSet presAssocID="{196543C5-093B-4437-B406-DBE4B882EA97}" presName="spaceB" presStyleCnt="0"/>
      <dgm:spPr/>
    </dgm:pt>
    <dgm:pt modelId="{66B84C84-45A2-4C61-AA12-3A3F75DB82F8}" type="pres">
      <dgm:prSet presAssocID="{F264F018-7FB9-43EC-B595-B986D351AD7B}" presName="space" presStyleCnt="0"/>
      <dgm:spPr/>
    </dgm:pt>
    <dgm:pt modelId="{8CEF5A46-4D3D-4D9F-B7F4-405723F5505C}" type="pres">
      <dgm:prSet presAssocID="{CA2BABAF-EDAA-4496-8316-FD6EA3643E8F}" presName="compositeA" presStyleCnt="0"/>
      <dgm:spPr/>
    </dgm:pt>
    <dgm:pt modelId="{0EA8ECEB-4BEA-4EA4-A72E-9427A4EDF870}" type="pres">
      <dgm:prSet presAssocID="{CA2BABAF-EDAA-4496-8316-FD6EA3643E8F}" presName="textA" presStyleLbl="revTx" presStyleIdx="2" presStyleCnt="3">
        <dgm:presLayoutVars>
          <dgm:bulletEnabled val="1"/>
        </dgm:presLayoutVars>
      </dgm:prSet>
      <dgm:spPr/>
    </dgm:pt>
    <dgm:pt modelId="{AE8B9E76-450B-4587-ADD0-D709E0D11B62}" type="pres">
      <dgm:prSet presAssocID="{CA2BABAF-EDAA-4496-8316-FD6EA3643E8F}" presName="circleA" presStyleLbl="node1" presStyleIdx="2" presStyleCnt="3"/>
      <dgm:spPr/>
    </dgm:pt>
    <dgm:pt modelId="{7E02D670-50CE-4DE9-9D99-A3113C1CA49F}" type="pres">
      <dgm:prSet presAssocID="{CA2BABAF-EDAA-4496-8316-FD6EA3643E8F}" presName="spaceA" presStyleCnt="0"/>
      <dgm:spPr/>
    </dgm:pt>
  </dgm:ptLst>
  <dgm:cxnLst>
    <dgm:cxn modelId="{33FC2F0C-BBBC-49D9-8DB9-87CFB664B234}" type="presOf" srcId="{45D50368-372D-4F79-95B9-B27BD239F0F6}" destId="{7103C4FE-7A4B-41EF-8814-669D0064B6EF}" srcOrd="0" destOrd="0" presId="urn:microsoft.com/office/officeart/2005/8/layout/hProcess11"/>
    <dgm:cxn modelId="{8AF7704F-B285-4A9C-BA90-65BEC6653B6C}" type="presOf" srcId="{B6A966AA-C2D0-420D-89FC-1A1AB0AD4072}" destId="{7F7D3F0A-88AE-44AB-92BC-B1AEC7CDD5CE}" srcOrd="0" destOrd="0" presId="urn:microsoft.com/office/officeart/2005/8/layout/hProcess11"/>
    <dgm:cxn modelId="{B93E1354-FC50-4D0F-81DD-4CEBA5959AFE}" type="presOf" srcId="{CA2BABAF-EDAA-4496-8316-FD6EA3643E8F}" destId="{0EA8ECEB-4BEA-4EA4-A72E-9427A4EDF870}" srcOrd="0" destOrd="0" presId="urn:microsoft.com/office/officeart/2005/8/layout/hProcess11"/>
    <dgm:cxn modelId="{9C4BE375-6187-4BD4-A343-9FC71D796AF1}" srcId="{CA2BABAF-EDAA-4496-8316-FD6EA3643E8F}" destId="{ABC1EDDD-C08B-4F9C-8453-9CEFCC2AF319}" srcOrd="0" destOrd="0" parTransId="{33D02404-349E-4E82-A8BA-C0A907006883}" sibTransId="{7D85D88C-6545-49D9-9F9D-01270187B165}"/>
    <dgm:cxn modelId="{68788A78-9180-41FF-BD09-BF4DBB52EA0D}" srcId="{B6A966AA-C2D0-420D-89FC-1A1AB0AD4072}" destId="{45D50368-372D-4F79-95B9-B27BD239F0F6}" srcOrd="0" destOrd="0" parTransId="{CDE1A78B-2AE4-4A71-9139-416C219BC84D}" sibTransId="{508ABF25-4B40-405C-9E88-248ED8B31B83}"/>
    <dgm:cxn modelId="{4011B082-09BD-4DD1-A54F-EA5AB249A3C2}" srcId="{B6A966AA-C2D0-420D-89FC-1A1AB0AD4072}" destId="{CA2BABAF-EDAA-4496-8316-FD6EA3643E8F}" srcOrd="2" destOrd="0" parTransId="{2B1B4805-2FB7-402F-86A8-587F29181C18}" sibTransId="{4498AB02-A1BF-4D28-8918-F87A89CEE23B}"/>
    <dgm:cxn modelId="{0CFCA19E-9316-4666-B978-BF8C655DDDAF}" type="presOf" srcId="{196543C5-093B-4437-B406-DBE4B882EA97}" destId="{C72ECC98-97C1-4FA6-9751-2F88545F8213}" srcOrd="0" destOrd="0" presId="urn:microsoft.com/office/officeart/2005/8/layout/hProcess11"/>
    <dgm:cxn modelId="{52499B9F-797A-43CC-89E1-64C52021BFAF}" srcId="{B6A966AA-C2D0-420D-89FC-1A1AB0AD4072}" destId="{196543C5-093B-4437-B406-DBE4B882EA97}" srcOrd="1" destOrd="0" parTransId="{41DE1F19-4A9F-48CD-A44E-6BF1D04E31EE}" sibTransId="{F264F018-7FB9-43EC-B595-B986D351AD7B}"/>
    <dgm:cxn modelId="{A780DCA0-97BB-47F1-AE52-A151606F1265}" type="presOf" srcId="{ABC1EDDD-C08B-4F9C-8453-9CEFCC2AF319}" destId="{0EA8ECEB-4BEA-4EA4-A72E-9427A4EDF870}" srcOrd="0" destOrd="1" presId="urn:microsoft.com/office/officeart/2005/8/layout/hProcess11"/>
    <dgm:cxn modelId="{7849C247-851C-4CEB-9B9D-59ABFE120C8A}" type="presParOf" srcId="{7F7D3F0A-88AE-44AB-92BC-B1AEC7CDD5CE}" destId="{1321859E-820F-42A1-A815-96F9E1091C18}" srcOrd="0" destOrd="0" presId="urn:microsoft.com/office/officeart/2005/8/layout/hProcess11"/>
    <dgm:cxn modelId="{BF45A60D-96FF-473A-B57F-CF56378654CB}" type="presParOf" srcId="{7F7D3F0A-88AE-44AB-92BC-B1AEC7CDD5CE}" destId="{0C0EFEA6-53DB-4B11-B914-678B897CA613}" srcOrd="1" destOrd="0" presId="urn:microsoft.com/office/officeart/2005/8/layout/hProcess11"/>
    <dgm:cxn modelId="{373F4474-FD59-4113-8085-E79F58FC39C7}" type="presParOf" srcId="{0C0EFEA6-53DB-4B11-B914-678B897CA613}" destId="{D1F8120B-2014-4539-8DB2-DF72EA65305F}" srcOrd="0" destOrd="0" presId="urn:microsoft.com/office/officeart/2005/8/layout/hProcess11"/>
    <dgm:cxn modelId="{6CA87CCD-3781-4E2F-A803-26D211F1164A}" type="presParOf" srcId="{D1F8120B-2014-4539-8DB2-DF72EA65305F}" destId="{7103C4FE-7A4B-41EF-8814-669D0064B6EF}" srcOrd="0" destOrd="0" presId="urn:microsoft.com/office/officeart/2005/8/layout/hProcess11"/>
    <dgm:cxn modelId="{2C783DC9-BCFF-47D6-B9A4-7620E681CE7B}" type="presParOf" srcId="{D1F8120B-2014-4539-8DB2-DF72EA65305F}" destId="{69242FCE-B1A3-4CB0-90C2-CB5EC309668C}" srcOrd="1" destOrd="0" presId="urn:microsoft.com/office/officeart/2005/8/layout/hProcess11"/>
    <dgm:cxn modelId="{51436E83-D55A-4252-9307-E6DD23BC71B1}" type="presParOf" srcId="{D1F8120B-2014-4539-8DB2-DF72EA65305F}" destId="{301F205F-64EC-4B0E-A2AD-D5977C935AF4}" srcOrd="2" destOrd="0" presId="urn:microsoft.com/office/officeart/2005/8/layout/hProcess11"/>
    <dgm:cxn modelId="{035DE029-A115-4D1B-B566-7C73919D30BD}" type="presParOf" srcId="{0C0EFEA6-53DB-4B11-B914-678B897CA613}" destId="{B3AB7B4B-B32A-45B9-A77C-F2AACFD79CA5}" srcOrd="1" destOrd="0" presId="urn:microsoft.com/office/officeart/2005/8/layout/hProcess11"/>
    <dgm:cxn modelId="{C147C24D-FED8-4C5F-A80D-D6D44BF366E1}" type="presParOf" srcId="{0C0EFEA6-53DB-4B11-B914-678B897CA613}" destId="{9B80AA7C-AE0D-4517-8F0E-3798D9078ECA}" srcOrd="2" destOrd="0" presId="urn:microsoft.com/office/officeart/2005/8/layout/hProcess11"/>
    <dgm:cxn modelId="{53793FBF-21A3-4D92-8C0F-F9CF0CAF6629}" type="presParOf" srcId="{9B80AA7C-AE0D-4517-8F0E-3798D9078ECA}" destId="{C72ECC98-97C1-4FA6-9751-2F88545F8213}" srcOrd="0" destOrd="0" presId="urn:microsoft.com/office/officeart/2005/8/layout/hProcess11"/>
    <dgm:cxn modelId="{CE6E8620-4AAD-4191-A9D9-F888C053CED8}" type="presParOf" srcId="{9B80AA7C-AE0D-4517-8F0E-3798D9078ECA}" destId="{8A3CF5DF-2912-4784-8B16-20EF1087B16D}" srcOrd="1" destOrd="0" presId="urn:microsoft.com/office/officeart/2005/8/layout/hProcess11"/>
    <dgm:cxn modelId="{6C95E7EA-2961-4ADE-BA5A-9B67FAC37BCE}" type="presParOf" srcId="{9B80AA7C-AE0D-4517-8F0E-3798D9078ECA}" destId="{AEB44FDA-4D40-47A5-BEE0-4EF9F97BF5D2}" srcOrd="2" destOrd="0" presId="urn:microsoft.com/office/officeart/2005/8/layout/hProcess11"/>
    <dgm:cxn modelId="{3BC5DF92-4D9B-42AA-A67F-99A3E4840255}" type="presParOf" srcId="{0C0EFEA6-53DB-4B11-B914-678B897CA613}" destId="{66B84C84-45A2-4C61-AA12-3A3F75DB82F8}" srcOrd="3" destOrd="0" presId="urn:microsoft.com/office/officeart/2005/8/layout/hProcess11"/>
    <dgm:cxn modelId="{FE27A33F-134B-4D24-AC36-DCCCF056641C}" type="presParOf" srcId="{0C0EFEA6-53DB-4B11-B914-678B897CA613}" destId="{8CEF5A46-4D3D-4D9F-B7F4-405723F5505C}" srcOrd="4" destOrd="0" presId="urn:microsoft.com/office/officeart/2005/8/layout/hProcess11"/>
    <dgm:cxn modelId="{94D75A07-120C-42AF-912B-044BD69E1C67}" type="presParOf" srcId="{8CEF5A46-4D3D-4D9F-B7F4-405723F5505C}" destId="{0EA8ECEB-4BEA-4EA4-A72E-9427A4EDF870}" srcOrd="0" destOrd="0" presId="urn:microsoft.com/office/officeart/2005/8/layout/hProcess11"/>
    <dgm:cxn modelId="{AF929006-0D84-43C4-AC24-C78F8617B9EC}" type="presParOf" srcId="{8CEF5A46-4D3D-4D9F-B7F4-405723F5505C}" destId="{AE8B9E76-450B-4587-ADD0-D709E0D11B62}" srcOrd="1" destOrd="0" presId="urn:microsoft.com/office/officeart/2005/8/layout/hProcess11"/>
    <dgm:cxn modelId="{9A93D057-5018-4672-A272-9B3DEF73DECA}" type="presParOf" srcId="{8CEF5A46-4D3D-4D9F-B7F4-405723F5505C}" destId="{7E02D670-50CE-4DE9-9D99-A3113C1CA49F}" srcOrd="2" destOrd="0" presId="urn:microsoft.com/office/officeart/2005/8/layout/hProcess1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1859E-820F-42A1-A815-96F9E1091C18}">
      <dsp:nvSpPr>
        <dsp:cNvPr id="0" name=""/>
        <dsp:cNvSpPr/>
      </dsp:nvSpPr>
      <dsp:spPr>
        <a:xfrm>
          <a:off x="0" y="932497"/>
          <a:ext cx="10077450" cy="124333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03C4FE-7A4B-41EF-8814-669D0064B6EF}">
      <dsp:nvSpPr>
        <dsp:cNvPr id="0" name=""/>
        <dsp:cNvSpPr/>
      </dsp:nvSpPr>
      <dsp:spPr>
        <a:xfrm>
          <a:off x="355171" y="0"/>
          <a:ext cx="2221369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Research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Detailed analysis of traditional architecture</a:t>
          </a:r>
        </a:p>
      </dsp:txBody>
      <dsp:txXfrm>
        <a:off x="355171" y="0"/>
        <a:ext cx="2221369" cy="1243330"/>
      </dsp:txXfrm>
    </dsp:sp>
    <dsp:sp modelId="{69242FCE-B1A3-4CB0-90C2-CB5EC309668C}">
      <dsp:nvSpPr>
        <dsp:cNvPr id="0" name=""/>
        <dsp:cNvSpPr/>
      </dsp:nvSpPr>
      <dsp:spPr>
        <a:xfrm>
          <a:off x="1310439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ECC98-97C1-4FA6-9751-2F88545F8213}">
      <dsp:nvSpPr>
        <dsp:cNvPr id="0" name=""/>
        <dsp:cNvSpPr/>
      </dsp:nvSpPr>
      <dsp:spPr>
        <a:xfrm>
          <a:off x="3073425" y="1864995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Recognition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/>
            <a:t>Recognizing drawbacks of the traditional networking stack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b="1" kern="1200" dirty="0"/>
          </a:br>
          <a:endParaRPr lang="en-US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/>
        </a:p>
      </dsp:txBody>
      <dsp:txXfrm>
        <a:off x="3073425" y="1864995"/>
        <a:ext cx="2922854" cy="1243330"/>
      </dsp:txXfrm>
    </dsp:sp>
    <dsp:sp modelId="{8A3CF5DF-2912-4784-8B16-20EF1087B16D}">
      <dsp:nvSpPr>
        <dsp:cNvPr id="0" name=""/>
        <dsp:cNvSpPr/>
      </dsp:nvSpPr>
      <dsp:spPr>
        <a:xfrm>
          <a:off x="4379436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ECEB-4BEA-4EA4-A72E-9427A4EDF870}">
      <dsp:nvSpPr>
        <dsp:cNvPr id="0" name=""/>
        <dsp:cNvSpPr/>
      </dsp:nvSpPr>
      <dsp:spPr>
        <a:xfrm>
          <a:off x="6142422" y="0"/>
          <a:ext cx="2922854" cy="12433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solidFill>
                <a:schemeClr val="bg1">
                  <a:lumMod val="65000"/>
                </a:schemeClr>
              </a:solidFill>
            </a:rPr>
            <a:t>Execution</a:t>
          </a:r>
        </a:p>
        <a:p>
          <a:pPr marL="228600" lvl="1" indent="-228600" algn="ct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SzPct val="80000"/>
            <a:buFont typeface="Courier New" panose="02070309020205020404" pitchFamily="49" charset="0"/>
            <a:buNone/>
          </a:pPr>
          <a:r>
            <a:rPr lang="en-US" sz="1800" kern="1200" dirty="0">
              <a:solidFill>
                <a:schemeClr val="bg1">
                  <a:lumMod val="65000"/>
                </a:schemeClr>
              </a:solidFill>
            </a:rPr>
            <a:t>Building the actual prototype</a:t>
          </a:r>
        </a:p>
      </dsp:txBody>
      <dsp:txXfrm>
        <a:off x="6142422" y="0"/>
        <a:ext cx="2922854" cy="1243330"/>
      </dsp:txXfrm>
    </dsp:sp>
    <dsp:sp modelId="{AE8B9E76-450B-4587-ADD0-D709E0D11B62}">
      <dsp:nvSpPr>
        <dsp:cNvPr id="0" name=""/>
        <dsp:cNvSpPr/>
      </dsp:nvSpPr>
      <dsp:spPr>
        <a:xfrm>
          <a:off x="7448433" y="1398746"/>
          <a:ext cx="310832" cy="31083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radera.com/item/1105/719349845/microsoft-windows-operating-system-version-3-1-user-s-guide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mbedx.medium.com/introduction-to-dpdk-architecture-and-principles-40db9a61a6f5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ource-code-code-programming-c-583537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5E10E9-9AB7-0642-D4C4-DDFDAB7B5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79082"/>
            <a:ext cx="10515600" cy="2248989"/>
          </a:xfrm>
        </p:spPr>
        <p:txBody>
          <a:bodyPr/>
          <a:lstStyle/>
          <a:p>
            <a:r>
              <a:rPr lang="en-US" dirty="0"/>
              <a:t>BypassRT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1307D8B-2864-21B6-1CE1-B605F2928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9166" y="3527406"/>
            <a:ext cx="9083040" cy="1358103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Adarsh bellamane </a:t>
            </a:r>
            <a:r>
              <a:rPr lang="en-US" sz="2000" dirty="0"/>
              <a:t>241it004</a:t>
            </a:r>
          </a:p>
          <a:p>
            <a:r>
              <a:rPr lang="en-US" dirty="0"/>
              <a:t>Harshith vellapha </a:t>
            </a:r>
            <a:r>
              <a:rPr lang="en-US" sz="2000" dirty="0"/>
              <a:t>241it033</a:t>
            </a:r>
          </a:p>
          <a:p>
            <a:r>
              <a:rPr lang="en-US" dirty="0"/>
              <a:t>K v akash </a:t>
            </a:r>
            <a:r>
              <a:rPr lang="en-US" sz="2000" dirty="0"/>
              <a:t>241it036</a:t>
            </a:r>
          </a:p>
        </p:txBody>
      </p:sp>
    </p:spTree>
    <p:extLst>
      <p:ext uri="{BB962C8B-B14F-4D97-AF65-F5344CB8AC3E}">
        <p14:creationId xmlns:p14="http://schemas.microsoft.com/office/powerpoint/2010/main" val="855215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8E0B0C9-69A5-FB11-0782-D8B34ACA68E9}"/>
              </a:ext>
            </a:extLst>
          </p:cNvPr>
          <p:cNvSpPr/>
          <p:nvPr/>
        </p:nvSpPr>
        <p:spPr>
          <a:xfrm>
            <a:off x="4876800" y="4836112"/>
            <a:ext cx="2778034" cy="6370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15E82D9-640D-F5B2-785E-FE2829E78A00}"/>
              </a:ext>
            </a:extLst>
          </p:cNvPr>
          <p:cNvSpPr/>
          <p:nvPr/>
        </p:nvSpPr>
        <p:spPr>
          <a:xfrm>
            <a:off x="4188823" y="3735977"/>
            <a:ext cx="1785257" cy="5350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D7C9710-B580-1E31-357B-5115CB0668E5}"/>
              </a:ext>
            </a:extLst>
          </p:cNvPr>
          <p:cNvSpPr/>
          <p:nvPr/>
        </p:nvSpPr>
        <p:spPr>
          <a:xfrm>
            <a:off x="2490651" y="4201255"/>
            <a:ext cx="2020389" cy="55362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C3274D-4066-AE77-7C43-B750BFDF4D27}"/>
              </a:ext>
            </a:extLst>
          </p:cNvPr>
          <p:cNvSpPr/>
          <p:nvPr/>
        </p:nvSpPr>
        <p:spPr>
          <a:xfrm>
            <a:off x="1349829" y="3735977"/>
            <a:ext cx="1428205" cy="53505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955C886-FE77-8A87-67DD-A4F2ADB80C06}"/>
              </a:ext>
            </a:extLst>
          </p:cNvPr>
          <p:cNvSpPr/>
          <p:nvPr/>
        </p:nvSpPr>
        <p:spPr>
          <a:xfrm>
            <a:off x="2582341" y="3462591"/>
            <a:ext cx="1802508" cy="3693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540428"/>
            <a:ext cx="10241280" cy="1643743"/>
          </a:xfrm>
          <a:noFill/>
        </p:spPr>
        <p:txBody>
          <a:bodyPr anchor="b" anchorCtr="0"/>
          <a:lstStyle/>
          <a:p>
            <a:r>
              <a:rPr lang="en-US" sz="4500" dirty="0"/>
              <a:t>Introduction to Kernel Bypass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ECEBD4-35BF-26BB-D438-DA43EBD5EE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2640" y="2312724"/>
            <a:ext cx="8046720" cy="535054"/>
          </a:xfrm>
          <a:noFill/>
        </p:spPr>
        <p:txBody>
          <a:bodyPr>
            <a:normAutofit/>
          </a:bodyPr>
          <a:lstStyle/>
          <a:p>
            <a:r>
              <a:rPr lang="en-US" dirty="0"/>
              <a:t>Traditional networking goes through the </a:t>
            </a:r>
            <a:r>
              <a:rPr lang="en-US" b="1" dirty="0"/>
              <a:t>Linux kernel networking stack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51CF48-FF4E-2328-979C-EBD19EFB04DF}"/>
              </a:ext>
            </a:extLst>
          </p:cNvPr>
          <p:cNvSpPr txBox="1"/>
          <p:nvPr/>
        </p:nvSpPr>
        <p:spPr>
          <a:xfrm>
            <a:off x="1219200" y="3831923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System calls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C1EBC-C70E-97B0-5EE8-FC480275FA41}"/>
              </a:ext>
            </a:extLst>
          </p:cNvPr>
          <p:cNvSpPr txBox="1"/>
          <p:nvPr/>
        </p:nvSpPr>
        <p:spPr>
          <a:xfrm>
            <a:off x="2647406" y="3462591"/>
            <a:ext cx="1706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Context switching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AC108-2046-DB91-1CAC-A172F30A31A9}"/>
              </a:ext>
            </a:extLst>
          </p:cNvPr>
          <p:cNvSpPr txBox="1"/>
          <p:nvPr/>
        </p:nvSpPr>
        <p:spPr>
          <a:xfrm>
            <a:off x="4075611" y="3831923"/>
            <a:ext cx="202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Interrupt handling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C22A7-A132-4C62-D6CE-CCF9236FA1EB}"/>
              </a:ext>
            </a:extLst>
          </p:cNvPr>
          <p:cNvSpPr txBox="1"/>
          <p:nvPr/>
        </p:nvSpPr>
        <p:spPr>
          <a:xfrm>
            <a:off x="2490651" y="4271031"/>
            <a:ext cx="202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Kernel buffer copies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3B3DDA-8DC7-B041-69BE-34EEFB8812B3}"/>
              </a:ext>
            </a:extLst>
          </p:cNvPr>
          <p:cNvSpPr txBox="1"/>
          <p:nvPr/>
        </p:nvSpPr>
        <p:spPr>
          <a:xfrm>
            <a:off x="3021707" y="3870395"/>
            <a:ext cx="95827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u="sng" dirty="0"/>
              <a:t>This involves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FD038-BD42-B759-6BCC-959460B6DEC1}"/>
              </a:ext>
            </a:extLst>
          </p:cNvPr>
          <p:cNvSpPr txBox="1"/>
          <p:nvPr/>
        </p:nvSpPr>
        <p:spPr>
          <a:xfrm>
            <a:off x="4876800" y="4849369"/>
            <a:ext cx="2690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adds latency and overhead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D0D689-8446-0EE5-8EF2-CF25A367EC6D}"/>
              </a:ext>
            </a:extLst>
          </p:cNvPr>
          <p:cNvSpPr txBox="1"/>
          <p:nvPr/>
        </p:nvSpPr>
        <p:spPr>
          <a:xfrm>
            <a:off x="7807153" y="2952199"/>
            <a:ext cx="3300548" cy="1477328"/>
          </a:xfrm>
          <a:custGeom>
            <a:avLst/>
            <a:gdLst>
              <a:gd name="csX0" fmla="*/ 0 w 3300548"/>
              <a:gd name="csY0" fmla="*/ 0 h 1477328"/>
              <a:gd name="csX1" fmla="*/ 3300548 w 3300548"/>
              <a:gd name="csY1" fmla="*/ 0 h 1477328"/>
              <a:gd name="csX2" fmla="*/ 3300548 w 3300548"/>
              <a:gd name="csY2" fmla="*/ 1477328 h 1477328"/>
              <a:gd name="csX3" fmla="*/ 0 w 3300548"/>
              <a:gd name="csY3" fmla="*/ 1477328 h 1477328"/>
              <a:gd name="csX4" fmla="*/ 0 w 3300548"/>
              <a:gd name="csY4" fmla="*/ 0 h 14773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300548" h="1477328" extrusionOk="0">
                <a:moveTo>
                  <a:pt x="0" y="0"/>
                </a:moveTo>
                <a:cubicBezTo>
                  <a:pt x="1180651" y="-5264"/>
                  <a:pt x="2312185" y="84467"/>
                  <a:pt x="3300548" y="0"/>
                </a:cubicBezTo>
                <a:cubicBezTo>
                  <a:pt x="3188831" y="533042"/>
                  <a:pt x="3409774" y="968921"/>
                  <a:pt x="3300548" y="1477328"/>
                </a:cubicBezTo>
                <a:cubicBezTo>
                  <a:pt x="2910736" y="1583648"/>
                  <a:pt x="791565" y="1469679"/>
                  <a:pt x="0" y="1477328"/>
                </a:cubicBezTo>
                <a:cubicBezTo>
                  <a:pt x="-81312" y="864007"/>
                  <a:pt x="-38244" y="302446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High-performance systems (like trading systems, load balancers, 5G, CDN) use:</a:t>
            </a:r>
          </a:p>
          <a:p>
            <a:r>
              <a:rPr lang="en-US" dirty="0"/>
              <a:t>Kernel bypass networking frameworks like </a:t>
            </a:r>
            <a:r>
              <a:rPr lang="en-US" b="1" dirty="0"/>
              <a:t>DPDK</a:t>
            </a:r>
            <a:endParaRPr lang="en-US" dirty="0"/>
          </a:p>
        </p:txBody>
      </p: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53187805-2429-6CB7-E8B4-CD71D94776C7}"/>
              </a:ext>
            </a:extLst>
          </p:cNvPr>
          <p:cNvCxnSpPr>
            <a:cxnSpLocks/>
          </p:cNvCxnSpPr>
          <p:nvPr/>
        </p:nvCxnSpPr>
        <p:spPr>
          <a:xfrm>
            <a:off x="4632959" y="4429527"/>
            <a:ext cx="1632858" cy="39367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917807"/>
            <a:ext cx="10515600" cy="942703"/>
          </a:xfrm>
          <a:noFill/>
        </p:spPr>
        <p:txBody>
          <a:bodyPr anchor="ctr" anchorCtr="0">
            <a:noAutofit/>
          </a:bodyPr>
          <a:lstStyle/>
          <a:p>
            <a:r>
              <a:rPr lang="en-US" sz="4500" dirty="0"/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189694"/>
            <a:ext cx="10515600" cy="1316736"/>
          </a:xfrm>
          <a:noFill/>
        </p:spPr>
        <p:txBody>
          <a:bodyPr>
            <a:noAutofit/>
          </a:bodyPr>
          <a:lstStyle/>
          <a:p>
            <a:r>
              <a:rPr lang="en-US" sz="3000" dirty="0"/>
              <a:t>How can we design a lightweight user-space networking runtime that bypasses the kernel for faster packet processing?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06A44E35-8849-238C-BB2D-DB134F809E8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37045" b="3704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FB8E-E5BA-DEDA-E7F0-0E091751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2D431A-7B05-0851-B027-3EE4E6A217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1120" y="2281646"/>
            <a:ext cx="4663440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Modern applications require:</a:t>
            </a:r>
          </a:p>
          <a:p>
            <a:r>
              <a:rPr lang="en-US" sz="1600" dirty="0"/>
              <a:t>Low latency (&lt; 10 microseconds)</a:t>
            </a:r>
          </a:p>
          <a:p>
            <a:r>
              <a:rPr lang="en-US" sz="1600" dirty="0"/>
              <a:t>High throughput (millions of packets/sec)</a:t>
            </a:r>
          </a:p>
          <a:p>
            <a:r>
              <a:rPr lang="en-US" sz="1600" dirty="0"/>
              <a:t>Predictable performance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B1E5C3-BC1B-EED9-6832-4BD59BCA7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0320" y="2281646"/>
            <a:ext cx="4663440" cy="3566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b="1" dirty="0"/>
              <a:t>Traditional kernel stack causes:</a:t>
            </a:r>
          </a:p>
          <a:p>
            <a:r>
              <a:rPr lang="en-US" dirty="0"/>
              <a:t>Multiple memory copies</a:t>
            </a:r>
          </a:p>
          <a:p>
            <a:r>
              <a:rPr lang="en-US" dirty="0"/>
              <a:t>Context switches</a:t>
            </a:r>
          </a:p>
          <a:p>
            <a:r>
              <a:rPr lang="en-US" dirty="0"/>
              <a:t>Interrupt overhead</a:t>
            </a:r>
          </a:p>
          <a:p>
            <a:r>
              <a:rPr lang="en-US" dirty="0"/>
              <a:t>Kernel locking bottlenecks</a:t>
            </a:r>
            <a:endParaRPr lang="en-US" b="1" dirty="0"/>
          </a:p>
          <a:p>
            <a:pPr marL="0" indent="0">
              <a:buNone/>
            </a:pPr>
            <a:endParaRPr lang="en-US" sz="25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A43252-21A5-D0FE-A078-753D902860BB}"/>
              </a:ext>
            </a:extLst>
          </p:cNvPr>
          <p:cNvSpPr txBox="1"/>
          <p:nvPr/>
        </p:nvSpPr>
        <p:spPr>
          <a:xfrm>
            <a:off x="1341120" y="1245326"/>
            <a:ext cx="96926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Comparisons / Drawbacks</a:t>
            </a:r>
          </a:p>
        </p:txBody>
      </p:sp>
    </p:spTree>
    <p:extLst>
      <p:ext uri="{BB962C8B-B14F-4D97-AF65-F5344CB8AC3E}">
        <p14:creationId xmlns:p14="http://schemas.microsoft.com/office/powerpoint/2010/main" val="3922370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731520"/>
          </a:xfrm>
          <a:noFill/>
        </p:spPr>
        <p:txBody>
          <a:bodyPr/>
          <a:lstStyle/>
          <a:p>
            <a:r>
              <a:rPr lang="en-US" sz="5000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2375262"/>
            <a:ext cx="6217920" cy="3703320"/>
          </a:xfrm>
          <a:noFill/>
        </p:spPr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it-IT" dirty="0"/>
              <a:t>Design a </a:t>
            </a:r>
            <a:r>
              <a:rPr lang="it-IT" b="1" dirty="0"/>
              <a:t>mini kernel-bypass runtime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Implement: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User-space packet buffers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Polling-based packet processing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Lock-free ring queues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Zero-copy packet handling (basic version)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Provide a minimal API for sending and receiving packets</a:t>
            </a:r>
          </a:p>
          <a:p>
            <a:pPr>
              <a:buClr>
                <a:schemeClr val="tx1"/>
              </a:buClr>
              <a:buFont typeface="+mj-lt"/>
              <a:buAutoNum type="arabicPeriod"/>
            </a:pPr>
            <a:r>
              <a:rPr lang="en-US" dirty="0"/>
              <a:t>Compare performance with traditional socket-based approach</a:t>
            </a:r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95B3AA4-E026-A720-6184-A87140255C5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11561" r="11561"/>
          <a:stretch>
            <a:fillRect/>
          </a:stretch>
        </p:blipFill>
        <p:spPr>
          <a:xfrm>
            <a:off x="1671672" y="1828800"/>
            <a:ext cx="3200400" cy="3200400"/>
          </a:xfrm>
          <a:prstGeom prst="rect">
            <a:avLst/>
          </a:prstGeom>
          <a:effectLst>
            <a:softEdge rad="393700"/>
          </a:effectLst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022" y="1005842"/>
            <a:ext cx="9821955" cy="914400"/>
          </a:xfrm>
          <a:noFill/>
        </p:spPr>
        <p:txBody>
          <a:bodyPr anchor="t" anchorCtr="0"/>
          <a:lstStyle/>
          <a:p>
            <a:pPr algn="ctr"/>
            <a:r>
              <a:rPr lang="en-US" dirty="0"/>
              <a:t>Pre requisites /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8947" y="1824447"/>
            <a:ext cx="2908663" cy="2264229"/>
          </a:xfr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/>
          <a:p>
            <a:pPr marL="0" indent="0">
              <a:buNone/>
            </a:pPr>
            <a:r>
              <a:rPr lang="en-US" sz="1500" b="1" dirty="0"/>
              <a:t>A) Linux Networking Stack</a:t>
            </a:r>
          </a:p>
          <a:p>
            <a:r>
              <a:rPr lang="en-US" sz="1200" i="1" dirty="0"/>
              <a:t>Socket API</a:t>
            </a:r>
          </a:p>
          <a:p>
            <a:r>
              <a:rPr lang="en-US" sz="1200" i="1" dirty="0"/>
              <a:t>System calls (send, recv)</a:t>
            </a:r>
          </a:p>
          <a:p>
            <a:r>
              <a:rPr lang="en-US" sz="1200" i="1" dirty="0"/>
              <a:t>Kernel buffers</a:t>
            </a:r>
          </a:p>
          <a:p>
            <a:r>
              <a:rPr lang="en-US" sz="1200" i="1" dirty="0"/>
              <a:t>Interrupt handling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66EAE4-9FAB-F163-71CB-AD51DC2D9B46}"/>
              </a:ext>
            </a:extLst>
          </p:cNvPr>
          <p:cNvSpPr txBox="1">
            <a:spLocks/>
          </p:cNvSpPr>
          <p:nvPr/>
        </p:nvSpPr>
        <p:spPr>
          <a:xfrm>
            <a:off x="4975636" y="1824447"/>
            <a:ext cx="2908663" cy="22642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/>
              <a:t>B) DPDK</a:t>
            </a:r>
          </a:p>
          <a:p>
            <a:r>
              <a:rPr lang="en-US" sz="1200" i="1" dirty="0"/>
              <a:t>Poll Mode Driver (PMD)</a:t>
            </a:r>
          </a:p>
          <a:p>
            <a:r>
              <a:rPr lang="en-US" sz="1200" i="1" dirty="0"/>
              <a:t>Hugepages</a:t>
            </a:r>
          </a:p>
          <a:p>
            <a:r>
              <a:rPr lang="en-US" sz="1200" i="1" dirty="0"/>
              <a:t>Memory pools</a:t>
            </a:r>
          </a:p>
          <a:p>
            <a:r>
              <a:rPr lang="en-US" sz="1200" i="1" dirty="0"/>
              <a:t>Lockless rings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FC0F7CF-0FDA-17F7-2626-1A422AD5E48C}"/>
              </a:ext>
            </a:extLst>
          </p:cNvPr>
          <p:cNvSpPr txBox="1">
            <a:spLocks/>
          </p:cNvSpPr>
          <p:nvPr/>
        </p:nvSpPr>
        <p:spPr>
          <a:xfrm>
            <a:off x="4975635" y="4184469"/>
            <a:ext cx="2908663" cy="2146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C) Zero-Copy Mechanism</a:t>
            </a:r>
          </a:p>
          <a:p>
            <a:pPr marL="0" indent="0">
              <a:buNone/>
            </a:pPr>
            <a:r>
              <a:rPr lang="en-US" sz="1200" i="1" dirty="0"/>
              <a:t>Avoid copying packets multiple times.</a:t>
            </a:r>
          </a:p>
          <a:p>
            <a:pPr marL="0" indent="0">
              <a:buNone/>
            </a:pPr>
            <a:r>
              <a:rPr lang="en-US" sz="1200" b="1" i="1" dirty="0"/>
              <a:t>Traditional</a:t>
            </a:r>
            <a:r>
              <a:rPr lang="en-US" sz="1200" i="1" dirty="0"/>
              <a:t>: NIC → Kernel → User</a:t>
            </a:r>
          </a:p>
          <a:p>
            <a:pPr marL="0" indent="0">
              <a:buNone/>
            </a:pPr>
            <a:r>
              <a:rPr lang="en-US" sz="1200" b="1" i="1" dirty="0"/>
              <a:t>Kernel bypass</a:t>
            </a:r>
            <a:r>
              <a:rPr lang="en-US" sz="1200" i="1" dirty="0"/>
              <a:t>: NIC → User (direct memory)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68E6E74-A547-B197-971C-61CCE0B79F59}"/>
              </a:ext>
            </a:extLst>
          </p:cNvPr>
          <p:cNvSpPr txBox="1">
            <a:spLocks/>
          </p:cNvSpPr>
          <p:nvPr/>
        </p:nvSpPr>
        <p:spPr>
          <a:xfrm>
            <a:off x="8003177" y="4184469"/>
            <a:ext cx="2908663" cy="21466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365760" tIns="365760" rIns="365760" bIns="365760" rtlCol="0" anchor="t">
            <a:no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800" b="0" i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6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4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8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2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860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SzPct val="80000"/>
              <a:buFont typeface="Courier New" panose="02070309020205020404" pitchFamily="49" charset="0"/>
              <a:buChar char="o"/>
              <a:defRPr sz="1100" b="0" i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C) Lock-Free Data Structures</a:t>
            </a:r>
          </a:p>
          <a:p>
            <a:r>
              <a:rPr lang="en-US" sz="1200" i="1" dirty="0"/>
              <a:t>Ring buffer</a:t>
            </a:r>
          </a:p>
          <a:p>
            <a:r>
              <a:rPr lang="en-US" sz="1200" i="1" dirty="0"/>
              <a:t>Circular queue</a:t>
            </a:r>
          </a:p>
          <a:p>
            <a:r>
              <a:rPr lang="en-US" sz="1200" i="1" dirty="0"/>
              <a:t>Atomic operations</a:t>
            </a: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914394"/>
            <a:ext cx="9820656" cy="914400"/>
          </a:xfrm>
          <a:noFill/>
        </p:spPr>
        <p:txBody>
          <a:bodyPr anchor="t" anchorCtr="0"/>
          <a:lstStyle/>
          <a:p>
            <a:pPr algn="ctr"/>
            <a:r>
              <a:rPr lang="en-US" dirty="0"/>
              <a:t>Solution architecture</a:t>
            </a:r>
          </a:p>
        </p:txBody>
      </p:sp>
      <p:pic>
        <p:nvPicPr>
          <p:cNvPr id="1026" name="Picture 2" descr="Introduction to DPDK: Architecture and Principles | by Krunal Patel | Medium">
            <a:extLst>
              <a:ext uri="{FF2B5EF4-FFF2-40B4-BE49-F238E27FC236}">
                <a16:creationId xmlns:a16="http://schemas.microsoft.com/office/drawing/2014/main" id="{829757CC-8649-FD46-1459-611EBD5A6A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18" y="1554480"/>
            <a:ext cx="4991282" cy="478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AB3BE8-F329-6A29-4DC1-FA2B97FFEDD6}"/>
              </a:ext>
            </a:extLst>
          </p:cNvPr>
          <p:cNvSpPr txBox="1"/>
          <p:nvPr/>
        </p:nvSpPr>
        <p:spPr>
          <a:xfrm>
            <a:off x="3039292" y="6150820"/>
            <a:ext cx="761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Source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BCA9F-6FA7-6B38-B81F-0AADE5B79732}"/>
              </a:ext>
            </a:extLst>
          </p:cNvPr>
          <p:cNvSpPr txBox="1"/>
          <p:nvPr/>
        </p:nvSpPr>
        <p:spPr>
          <a:xfrm>
            <a:off x="6871063" y="2514666"/>
            <a:ext cx="4502331" cy="2862322"/>
          </a:xfrm>
          <a:custGeom>
            <a:avLst/>
            <a:gdLst>
              <a:gd name="csX0" fmla="*/ 0 w 4502331"/>
              <a:gd name="csY0" fmla="*/ 0 h 2862322"/>
              <a:gd name="csX1" fmla="*/ 607815 w 4502331"/>
              <a:gd name="csY1" fmla="*/ 0 h 2862322"/>
              <a:gd name="csX2" fmla="*/ 1260653 w 4502331"/>
              <a:gd name="csY2" fmla="*/ 0 h 2862322"/>
              <a:gd name="csX3" fmla="*/ 1733397 w 4502331"/>
              <a:gd name="csY3" fmla="*/ 0 h 2862322"/>
              <a:gd name="csX4" fmla="*/ 2296189 w 4502331"/>
              <a:gd name="csY4" fmla="*/ 0 h 2862322"/>
              <a:gd name="csX5" fmla="*/ 2904003 w 4502331"/>
              <a:gd name="csY5" fmla="*/ 0 h 2862322"/>
              <a:gd name="csX6" fmla="*/ 3511818 w 4502331"/>
              <a:gd name="csY6" fmla="*/ 0 h 2862322"/>
              <a:gd name="csX7" fmla="*/ 4502331 w 4502331"/>
              <a:gd name="csY7" fmla="*/ 0 h 2862322"/>
              <a:gd name="csX8" fmla="*/ 4502331 w 4502331"/>
              <a:gd name="csY8" fmla="*/ 515218 h 2862322"/>
              <a:gd name="csX9" fmla="*/ 4502331 w 4502331"/>
              <a:gd name="csY9" fmla="*/ 1001813 h 2862322"/>
              <a:gd name="csX10" fmla="*/ 4502331 w 4502331"/>
              <a:gd name="csY10" fmla="*/ 1631524 h 2862322"/>
              <a:gd name="csX11" fmla="*/ 4502331 w 4502331"/>
              <a:gd name="csY11" fmla="*/ 2118118 h 2862322"/>
              <a:gd name="csX12" fmla="*/ 4502331 w 4502331"/>
              <a:gd name="csY12" fmla="*/ 2862322 h 2862322"/>
              <a:gd name="csX13" fmla="*/ 3939540 w 4502331"/>
              <a:gd name="csY13" fmla="*/ 2862322 h 2862322"/>
              <a:gd name="csX14" fmla="*/ 3376748 w 4502331"/>
              <a:gd name="csY14" fmla="*/ 2862322 h 2862322"/>
              <a:gd name="csX15" fmla="*/ 2813957 w 4502331"/>
              <a:gd name="csY15" fmla="*/ 2862322 h 2862322"/>
              <a:gd name="csX16" fmla="*/ 2206142 w 4502331"/>
              <a:gd name="csY16" fmla="*/ 2862322 h 2862322"/>
              <a:gd name="csX17" fmla="*/ 1688374 w 4502331"/>
              <a:gd name="csY17" fmla="*/ 2862322 h 2862322"/>
              <a:gd name="csX18" fmla="*/ 1080559 w 4502331"/>
              <a:gd name="csY18" fmla="*/ 2862322 h 2862322"/>
              <a:gd name="csX19" fmla="*/ 652838 w 4502331"/>
              <a:gd name="csY19" fmla="*/ 2862322 h 2862322"/>
              <a:gd name="csX20" fmla="*/ 0 w 4502331"/>
              <a:gd name="csY20" fmla="*/ 2862322 h 2862322"/>
              <a:gd name="csX21" fmla="*/ 0 w 4502331"/>
              <a:gd name="csY21" fmla="*/ 2318481 h 2862322"/>
              <a:gd name="csX22" fmla="*/ 0 w 4502331"/>
              <a:gd name="csY22" fmla="*/ 1717393 h 2862322"/>
              <a:gd name="csX23" fmla="*/ 0 w 4502331"/>
              <a:gd name="csY23" fmla="*/ 1087682 h 2862322"/>
              <a:gd name="csX24" fmla="*/ 0 w 4502331"/>
              <a:gd name="csY24" fmla="*/ 543841 h 2862322"/>
              <a:gd name="csX25" fmla="*/ 0 w 4502331"/>
              <a:gd name="csY25" fmla="*/ 0 h 28623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502331" h="2862322" extrusionOk="0">
                <a:moveTo>
                  <a:pt x="0" y="0"/>
                </a:moveTo>
                <a:cubicBezTo>
                  <a:pt x="193343" y="-16003"/>
                  <a:pt x="343724" y="67068"/>
                  <a:pt x="607815" y="0"/>
                </a:cubicBezTo>
                <a:cubicBezTo>
                  <a:pt x="871906" y="-67068"/>
                  <a:pt x="979364" y="60006"/>
                  <a:pt x="1260653" y="0"/>
                </a:cubicBezTo>
                <a:cubicBezTo>
                  <a:pt x="1541942" y="-60006"/>
                  <a:pt x="1597570" y="49570"/>
                  <a:pt x="1733397" y="0"/>
                </a:cubicBezTo>
                <a:cubicBezTo>
                  <a:pt x="1869224" y="-49570"/>
                  <a:pt x="2032410" y="43918"/>
                  <a:pt x="2296189" y="0"/>
                </a:cubicBezTo>
                <a:cubicBezTo>
                  <a:pt x="2559968" y="-43918"/>
                  <a:pt x="2630967" y="63482"/>
                  <a:pt x="2904003" y="0"/>
                </a:cubicBezTo>
                <a:cubicBezTo>
                  <a:pt x="3177039" y="-63482"/>
                  <a:pt x="3293620" y="43826"/>
                  <a:pt x="3511818" y="0"/>
                </a:cubicBezTo>
                <a:cubicBezTo>
                  <a:pt x="3730017" y="-43826"/>
                  <a:pt x="4007485" y="46579"/>
                  <a:pt x="4502331" y="0"/>
                </a:cubicBezTo>
                <a:cubicBezTo>
                  <a:pt x="4531326" y="194158"/>
                  <a:pt x="4483478" y="319344"/>
                  <a:pt x="4502331" y="515218"/>
                </a:cubicBezTo>
                <a:cubicBezTo>
                  <a:pt x="4521184" y="711092"/>
                  <a:pt x="4488002" y="899679"/>
                  <a:pt x="4502331" y="1001813"/>
                </a:cubicBezTo>
                <a:cubicBezTo>
                  <a:pt x="4516660" y="1103948"/>
                  <a:pt x="4479990" y="1423546"/>
                  <a:pt x="4502331" y="1631524"/>
                </a:cubicBezTo>
                <a:cubicBezTo>
                  <a:pt x="4524672" y="1839502"/>
                  <a:pt x="4444064" y="2013653"/>
                  <a:pt x="4502331" y="2118118"/>
                </a:cubicBezTo>
                <a:cubicBezTo>
                  <a:pt x="4560598" y="2222583"/>
                  <a:pt x="4496744" y="2493696"/>
                  <a:pt x="4502331" y="2862322"/>
                </a:cubicBezTo>
                <a:cubicBezTo>
                  <a:pt x="4240135" y="2901715"/>
                  <a:pt x="4122434" y="2817271"/>
                  <a:pt x="3939540" y="2862322"/>
                </a:cubicBezTo>
                <a:cubicBezTo>
                  <a:pt x="3756646" y="2907373"/>
                  <a:pt x="3629639" y="2800417"/>
                  <a:pt x="3376748" y="2862322"/>
                </a:cubicBezTo>
                <a:cubicBezTo>
                  <a:pt x="3123857" y="2924227"/>
                  <a:pt x="2943442" y="2804839"/>
                  <a:pt x="2813957" y="2862322"/>
                </a:cubicBezTo>
                <a:cubicBezTo>
                  <a:pt x="2684472" y="2919805"/>
                  <a:pt x="2356807" y="2846419"/>
                  <a:pt x="2206142" y="2862322"/>
                </a:cubicBezTo>
                <a:cubicBezTo>
                  <a:pt x="2055478" y="2878225"/>
                  <a:pt x="1812423" y="2859014"/>
                  <a:pt x="1688374" y="2862322"/>
                </a:cubicBezTo>
                <a:cubicBezTo>
                  <a:pt x="1564325" y="2865630"/>
                  <a:pt x="1266589" y="2832162"/>
                  <a:pt x="1080559" y="2862322"/>
                </a:cubicBezTo>
                <a:cubicBezTo>
                  <a:pt x="894530" y="2892482"/>
                  <a:pt x="813970" y="2844855"/>
                  <a:pt x="652838" y="2862322"/>
                </a:cubicBezTo>
                <a:cubicBezTo>
                  <a:pt x="491706" y="2879789"/>
                  <a:pt x="194994" y="2858213"/>
                  <a:pt x="0" y="2862322"/>
                </a:cubicBezTo>
                <a:cubicBezTo>
                  <a:pt x="-4361" y="2602747"/>
                  <a:pt x="23792" y="2505619"/>
                  <a:pt x="0" y="2318481"/>
                </a:cubicBezTo>
                <a:cubicBezTo>
                  <a:pt x="-23792" y="2131343"/>
                  <a:pt x="38495" y="1872134"/>
                  <a:pt x="0" y="1717393"/>
                </a:cubicBezTo>
                <a:cubicBezTo>
                  <a:pt x="-38495" y="1562652"/>
                  <a:pt x="70173" y="1239798"/>
                  <a:pt x="0" y="1087682"/>
                </a:cubicBezTo>
                <a:cubicBezTo>
                  <a:pt x="-70173" y="935566"/>
                  <a:pt x="21996" y="800509"/>
                  <a:pt x="0" y="543841"/>
                </a:cubicBezTo>
                <a:cubicBezTo>
                  <a:pt x="-21996" y="287173"/>
                  <a:pt x="48688" y="240630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51069785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 key difference is </a:t>
            </a:r>
            <a:r>
              <a:rPr lang="en-US" b="1" dirty="0">
                <a:solidFill>
                  <a:srgbClr val="FF0000"/>
                </a:solidFill>
              </a:rPr>
              <a:t>where packet processing happens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With </a:t>
            </a:r>
            <a:r>
              <a:rPr lang="en-US" b="1" dirty="0"/>
              <a:t>DPDK-style networking</a:t>
            </a:r>
            <a:r>
              <a:rPr lang="en-US" dirty="0"/>
              <a:t>, packet processing happens </a:t>
            </a:r>
            <a:r>
              <a:rPr lang="en-US" b="1" dirty="0"/>
              <a:t>entirely in user space.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dirty="0"/>
              <a:t>Linux networking stack is bypassed.</a:t>
            </a:r>
          </a:p>
          <a:p>
            <a:r>
              <a:rPr lang="en-US" dirty="0"/>
              <a:t>Applications interact </a:t>
            </a:r>
            <a:r>
              <a:rPr lang="en-US" b="1" dirty="0"/>
              <a:t>directly with network hardware</a:t>
            </a:r>
            <a:r>
              <a:rPr lang="en-US" dirty="0"/>
              <a:t> without using the operating system’s networking stack.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3916D-6E19-139B-BE7F-B12E27379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011E82-9EC7-40EF-8588-2716AC9022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35634" y="2281646"/>
            <a:ext cx="4663440" cy="3566160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Instead of using sockets, modern applications use </a:t>
            </a:r>
            <a:r>
              <a:rPr lang="en-US" sz="1600" b="1" dirty="0"/>
              <a:t>DPDK APIs</a:t>
            </a:r>
            <a:r>
              <a:rPr lang="en-US" sz="1600" dirty="0"/>
              <a:t> for packet processing</a:t>
            </a:r>
          </a:p>
          <a:p>
            <a:r>
              <a:rPr lang="en-US" sz="1600" dirty="0"/>
              <a:t>High throughput (millions of packets/sec)</a:t>
            </a:r>
          </a:p>
          <a:p>
            <a:r>
              <a:rPr lang="en-US" sz="1600" dirty="0"/>
              <a:t>Improves latency predictability</a:t>
            </a:r>
          </a:p>
          <a:p>
            <a:r>
              <a:rPr lang="en-US" sz="1600" dirty="0"/>
              <a:t>Reduced TLB misses.</a:t>
            </a:r>
          </a:p>
          <a:p>
            <a:r>
              <a:rPr lang="en-US" sz="1600" dirty="0"/>
              <a:t>Faster packet buffer allocation.</a:t>
            </a:r>
          </a:p>
          <a:p>
            <a:r>
              <a:rPr lang="en-US" sz="1600" dirty="0"/>
              <a:t>Avoids expensive </a:t>
            </a:r>
            <a:r>
              <a:rPr lang="en-US" dirty="0"/>
              <a:t>malloc()</a:t>
            </a:r>
            <a:r>
              <a:rPr lang="en-US" sz="1600" dirty="0"/>
              <a:t> calls</a:t>
            </a:r>
          </a:p>
          <a:p>
            <a:r>
              <a:rPr lang="en-US" sz="1600" dirty="0"/>
              <a:t>Eliminates interrupt overhead</a:t>
            </a:r>
          </a:p>
          <a:p>
            <a:endParaRPr lang="en-US" sz="160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8D2C812-79E1-841C-0BD9-FF6948B19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926" y="2281646"/>
            <a:ext cx="4663440" cy="35661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b="1" dirty="0"/>
              <a:t>Traditional kernel stack causes:</a:t>
            </a:r>
          </a:p>
          <a:p>
            <a:r>
              <a:rPr lang="en-US" dirty="0"/>
              <a:t>Multiple memory copies</a:t>
            </a:r>
          </a:p>
          <a:p>
            <a:r>
              <a:rPr lang="en-US" dirty="0"/>
              <a:t>Context switches</a:t>
            </a:r>
          </a:p>
          <a:p>
            <a:r>
              <a:rPr lang="en-US" dirty="0"/>
              <a:t>Interrupt overhead</a:t>
            </a:r>
          </a:p>
          <a:p>
            <a:r>
              <a:rPr lang="en-US" dirty="0"/>
              <a:t>Kernel locking bottlenecks</a:t>
            </a:r>
            <a:endParaRPr lang="en-US" b="1" dirty="0"/>
          </a:p>
          <a:p>
            <a:pPr marL="0" indent="0">
              <a:buNone/>
            </a:pPr>
            <a:endParaRPr lang="en-US" sz="25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3F16A2-E148-CB2A-1634-274AC4452318}"/>
              </a:ext>
            </a:extLst>
          </p:cNvPr>
          <p:cNvSpPr txBox="1"/>
          <p:nvPr/>
        </p:nvSpPr>
        <p:spPr>
          <a:xfrm>
            <a:off x="1341120" y="1010194"/>
            <a:ext cx="96926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Advantages of our solution</a:t>
            </a:r>
          </a:p>
        </p:txBody>
      </p:sp>
    </p:spTree>
    <p:extLst>
      <p:ext uri="{BB962C8B-B14F-4D97-AF65-F5344CB8AC3E}">
        <p14:creationId xmlns:p14="http://schemas.microsoft.com/office/powerpoint/2010/main" val="158889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  <a:noFill/>
        </p:spPr>
        <p:txBody>
          <a:bodyPr/>
          <a:lstStyle/>
          <a:p>
            <a:r>
              <a:rPr lang="en-US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  <a:noFill/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Programming language: C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POSIX THREADS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ATOMIC OPERATIONS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LOCK FREE QUEUES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MEMPOOLS/ PACKET BUFFERS</a:t>
            </a:r>
            <a:endParaRPr lang="en-US" dirty="0"/>
          </a:p>
          <a:p>
            <a:r>
              <a:rPr lang="en-US" dirty="0"/>
              <a:t>Linux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RAW SOCKET / AF_PACKETS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TCPDUMP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WIRESHARK</a:t>
            </a:r>
            <a:endParaRPr lang="en-US" dirty="0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6DB610A7-56FA-4A5F-C54C-A073820A3ED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704" r="2170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  <a:noFill/>
        </p:spPr>
        <p:txBody>
          <a:bodyPr anchor="t" anchorCtr="0"/>
          <a:lstStyle/>
          <a:p>
            <a:r>
              <a:rPr lang="en-US" dirty="0"/>
              <a:t>progress</a:t>
            </a:r>
          </a:p>
        </p:txBody>
      </p:sp>
      <p:graphicFrame>
        <p:nvGraphicFramePr>
          <p:cNvPr id="5" name="Content Placeholder 4" descr="Basic timeline SmartArt graphic">
            <a:extLst>
              <a:ext uri="{FF2B5EF4-FFF2-40B4-BE49-F238E27FC236}">
                <a16:creationId xmlns:a16="http://schemas.microsoft.com/office/drawing/2014/main" id="{2DA25F38-CDC8-7982-99AE-8D5A8ECABC8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7061720"/>
              </p:ext>
            </p:extLst>
          </p:nvPr>
        </p:nvGraphicFramePr>
        <p:xfrm>
          <a:off x="1280160" y="2186170"/>
          <a:ext cx="10077450" cy="31083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White DNA structure">
            <a:extLst>
              <a:ext uri="{FF2B5EF4-FFF2-40B4-BE49-F238E27FC236}">
                <a16:creationId xmlns:a16="http://schemas.microsoft.com/office/drawing/2014/main" id="{DC23EB2B-2285-3C42-31D8-4D87E34CF2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5" r="5"/>
          <a:stretch/>
        </p:blipFill>
        <p:spPr>
          <a:xfrm>
            <a:off x="1524000" y="1481328"/>
            <a:ext cx="9144000" cy="3895344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  <a:noFill/>
        </p:spPr>
        <p:txBody>
          <a:bodyPr anchor="ctr" anchorCtr="0"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5808556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{3AD497AC-B8C0-4FC7-8619-D1668FA8DB2C}tf67061901_win32</Template>
  <TotalTime>355</TotalTime>
  <Words>390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Courier New</vt:lpstr>
      <vt:lpstr>Daytona Condensed Light</vt:lpstr>
      <vt:lpstr>Posterama</vt:lpstr>
      <vt:lpstr>Custom</vt:lpstr>
      <vt:lpstr>BypassRT</vt:lpstr>
      <vt:lpstr>Introduction to Kernel Bypass Networking</vt:lpstr>
      <vt:lpstr>Problem statement</vt:lpstr>
      <vt:lpstr>PowerPoint Presentation</vt:lpstr>
      <vt:lpstr>objectives</vt:lpstr>
      <vt:lpstr>Pre requisites / research</vt:lpstr>
      <vt:lpstr>Solution architecture</vt:lpstr>
      <vt:lpstr>PowerPoint Presentation</vt:lpstr>
      <vt:lpstr>Tools and technologies used</vt:lpstr>
      <vt:lpstr>progress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 V</dc:creator>
  <cp:lastModifiedBy>Harshith V</cp:lastModifiedBy>
  <cp:revision>3</cp:revision>
  <dcterms:created xsi:type="dcterms:W3CDTF">2026-03-02T08:26:37Z</dcterms:created>
  <dcterms:modified xsi:type="dcterms:W3CDTF">2026-03-04T05:11:03Z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